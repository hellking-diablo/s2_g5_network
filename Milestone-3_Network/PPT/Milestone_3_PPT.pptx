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lvetica World Bold" charset="1" panose="020B0800040000020004"/>
      <p:regular r:id="rId23"/>
    </p:embeddedFont>
    <p:embeddedFont>
      <p:font typeface="Times New Roman MT Bold" charset="1" panose="02030802070405020303"/>
      <p:regular r:id="rId24"/>
    </p:embeddedFont>
    <p:embeddedFont>
      <p:font typeface="Canva Sans" charset="1" panose="020B0503030501040103"/>
      <p:regular r:id="rId25"/>
    </p:embeddedFont>
    <p:embeddedFont>
      <p:font typeface="Helvetica World" charset="1" panose="020B0500040000020004"/>
      <p:regular r:id="rId27"/>
    </p:embeddedFont>
    <p:embeddedFont>
      <p:font typeface="Canva Sans Bold" charset="1" panose="020B08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64396" y="239705"/>
            <a:ext cx="6159208" cy="2021586"/>
            <a:chOff x="0" y="0"/>
            <a:chExt cx="8212277" cy="269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12328" cy="2695448"/>
            </a:xfrm>
            <a:custGeom>
              <a:avLst/>
              <a:gdLst/>
              <a:ahLst/>
              <a:cxnLst/>
              <a:rect r="r" b="b" t="t" l="l"/>
              <a:pathLst>
                <a:path h="2695448" w="821232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3512" y="4688241"/>
            <a:ext cx="17020976" cy="560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b="true" sz="6848">
                <a:solidFill>
                  <a:srgbClr val="F2F1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Stochastic Optimization of Spatial Throughput in Wireless </a:t>
            </a:r>
          </a:p>
          <a:p>
            <a:pPr algn="ctr">
              <a:lnSpc>
                <a:spcPts val="7395"/>
              </a:lnSpc>
            </a:pPr>
            <a:r>
              <a:rPr lang="en-US" b="true" sz="6848">
                <a:solidFill>
                  <a:srgbClr val="F2F1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Networks under </a:t>
            </a:r>
          </a:p>
          <a:p>
            <a:pPr algn="ctr">
              <a:lnSpc>
                <a:spcPts val="7395"/>
              </a:lnSpc>
            </a:pPr>
            <a:r>
              <a:rPr lang="en-US" b="true" sz="6848">
                <a:solidFill>
                  <a:srgbClr val="F2F1E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Determinantal Scheduling</a:t>
            </a:r>
          </a:p>
          <a:p>
            <a:pPr algn="just">
              <a:lnSpc>
                <a:spcPts val="5847"/>
              </a:lnSpc>
            </a:pPr>
          </a:p>
          <a:p>
            <a:pPr algn="just">
              <a:lnSpc>
                <a:spcPts val="584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507784" y="2577773"/>
            <a:ext cx="3272433" cy="117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b="true" sz="6199" u="sng">
                <a:solidFill>
                  <a:srgbClr val="F2F1E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s2_g5_net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0159" y="173030"/>
            <a:ext cx="475760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Group Members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Devshree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Hiranshee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Prakshal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Yagnik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Dhruv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9978" y="9260843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988344"/>
            <a:chOff x="0" y="0"/>
            <a:chExt cx="21031200" cy="26511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</a:t>
              </a: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roject Context and Motivation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  ‹#›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5679" y="2629391"/>
            <a:ext cx="17592321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Wireless Telecommunications and Network Planning.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Unc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ertainty Exists: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Radio waves interact unpredictably with the physical environment, creating unavoidable signal fading and interference.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uncertainty intrinsic?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20247" y="6506436"/>
            <a:ext cx="14715815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Signals fade unpredictably due to physical environments 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Device positions are unpredictable, creating chaotic, constantly changing interference patterns.</a:t>
            </a: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7811871" cy="1988550"/>
            <a:chOff x="0" y="0"/>
            <a:chExt cx="23749162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49161" cy="2651396"/>
            </a:xfrm>
            <a:custGeom>
              <a:avLst/>
              <a:gdLst/>
              <a:ahLst/>
              <a:cxnLst/>
              <a:rect r="r" b="b" t="t" l="l"/>
              <a:pathLst>
                <a:path h="2651396" w="23749161">
                  <a:moveTo>
                    <a:pt x="0" y="0"/>
                  </a:moveTo>
                  <a:lnTo>
                    <a:pt x="23749161" y="0"/>
                  </a:lnTo>
                  <a:lnTo>
                    <a:pt x="23749161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11444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3749162" cy="2575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</a:t>
              </a: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oject Objective and Scope Main Goal: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3131931"/>
            <a:ext cx="18557503" cy="615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382" indent="-377691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Exact Objective:</a:t>
            </a: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Find the optimal node density 𝜆 to maximise network throughput.</a:t>
            </a:r>
          </a:p>
          <a:p>
            <a:pPr algn="l">
              <a:lnSpc>
                <a:spcPts val="4898"/>
              </a:lnSpc>
            </a:pPr>
          </a:p>
          <a:p>
            <a:pPr algn="l" marL="755382" indent="-377691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</a:t>
            </a:r>
            <a:r>
              <a:rPr lang="en-US" b="true" sz="3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terministic Strategy: </a:t>
            </a:r>
          </a:p>
          <a:p>
            <a:pPr algn="l">
              <a:lnSpc>
                <a:spcPts val="4898"/>
              </a:lnSpc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</a:p>
          <a:p>
            <a:pPr algn="l">
              <a:lnSpc>
                <a:spcPts val="4898"/>
              </a:lnSpc>
            </a:pPr>
          </a:p>
          <a:p>
            <a:pPr algn="l">
              <a:lnSpc>
                <a:spcPts val="4898"/>
              </a:lnSpc>
            </a:pPr>
          </a:p>
          <a:p>
            <a:pPr algn="l" marL="755382" indent="-377691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</a:t>
            </a:r>
            <a:r>
              <a:rPr lang="en-US" b="true" sz="3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it's Reasonable:</a:t>
            </a:r>
          </a:p>
          <a:p>
            <a:pPr algn="l">
              <a:lnSpc>
                <a:spcPts val="4898"/>
              </a:lnSpc>
            </a:pPr>
          </a:p>
          <a:p>
            <a:pPr algn="l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48251" y="5206383"/>
            <a:ext cx="17455075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Simulating a fixed-grid spatial deployment (Square and Hexagonal) with zero randomized node placement.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251" y="7445823"/>
            <a:ext cx="167254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Traditional cellular networks are deployed in planned, rigid grids.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691479"/>
            <a:ext cx="17695387" cy="2419290"/>
            <a:chOff x="0" y="0"/>
            <a:chExt cx="23593850" cy="32257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93850" cy="3225715"/>
            </a:xfrm>
            <a:custGeom>
              <a:avLst/>
              <a:gdLst/>
              <a:ahLst/>
              <a:cxnLst/>
              <a:rect r="r" b="b" t="t" l="l"/>
              <a:pathLst>
                <a:path h="3225715" w="23593850">
                  <a:moveTo>
                    <a:pt x="0" y="0"/>
                  </a:moveTo>
                  <a:lnTo>
                    <a:pt x="23593850" y="0"/>
                  </a:lnTo>
                  <a:lnTo>
                    <a:pt x="23593850" y="3225715"/>
                  </a:lnTo>
                  <a:lnTo>
                    <a:pt x="0" y="32257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941" r="10861" b="-6813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3593850" cy="31495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System Overview Step-by-step system:</a:t>
              </a:r>
            </a:p>
            <a:p>
              <a:pPr algn="l">
                <a:lnSpc>
                  <a:spcPts val="64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8413" y="2652284"/>
            <a:ext cx="15590549" cy="816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Architecture: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Grid Generation ⟶ Distance Calculation ⟶ Fading Application ⟶  SINR Evaluation ⟶  Throughput Output.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Uncertainty Enters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Specifically at the "Fading Application" stage (the physics), while geometry remains fixed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504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24684" y="3524613"/>
            <a:ext cx="1423800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Monte Carlo simu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lation engine evaluating fixed geometries.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1200" cy="2575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Sourc</a:t>
              </a: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 of Uncertainty in the Project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063" y="2943377"/>
            <a:ext cx="15373898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Variability: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Unpredictable signal bounces (Rayleigh fading).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Noise: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Aggregate interference from all active transmitters in the city.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is Simulated: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applying random exponential multipliers to deterministic path loss formulas.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1200" cy="2575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Random Variabl</a:t>
              </a: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 and Their Roles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03386" y="2701433"/>
            <a:ext cx="13390959" cy="635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Fading (H):  Definition: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Environmental signal degradation.</a:t>
            </a:r>
          </a:p>
          <a:p>
            <a:pPr algn="l">
              <a:lnSpc>
                <a:spcPts val="5039"/>
              </a:lnSpc>
            </a:pPr>
          </a:p>
          <a:p>
            <a:pPr algn="l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Distribution: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Exponential.</a:t>
            </a:r>
          </a:p>
          <a:p>
            <a:pPr algn="l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Role: 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Modifies raw received power.</a:t>
            </a:r>
          </a:p>
          <a:p>
            <a:pPr algn="l">
              <a:lnSpc>
                <a:spcPts val="5039"/>
              </a:lnSpc>
            </a:pP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Interference (I):  Definition: 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Sum of background noise.</a:t>
            </a:r>
          </a:p>
          <a:p>
            <a:pPr algn="l">
              <a:lnSpc>
                <a:spcPts val="5039"/>
              </a:lnSpc>
            </a:pPr>
          </a:p>
          <a:p>
            <a:pPr algn="l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Distribution: 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Derived sum.</a:t>
            </a:r>
          </a:p>
          <a:p>
            <a:pPr algn="l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ole: 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Creates the threshold barrier for success.</a:t>
            </a:r>
          </a:p>
          <a:p>
            <a:pPr algn="l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8604" y="400050"/>
            <a:ext cx="16310696" cy="2503111"/>
            <a:chOff x="0" y="0"/>
            <a:chExt cx="21747594" cy="3337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47595" cy="3337475"/>
            </a:xfrm>
            <a:custGeom>
              <a:avLst/>
              <a:gdLst/>
              <a:ahLst/>
              <a:cxnLst/>
              <a:rect r="r" b="b" t="t" l="l"/>
              <a:pathLst>
                <a:path h="3337475" w="21747595">
                  <a:moveTo>
                    <a:pt x="0" y="0"/>
                  </a:moveTo>
                  <a:lnTo>
                    <a:pt x="21747595" y="0"/>
                  </a:lnTo>
                  <a:lnTo>
                    <a:pt x="21747595" y="3337475"/>
                  </a:lnTo>
                  <a:lnTo>
                    <a:pt x="0" y="33374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063" r="3294" b="-625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747594" cy="32612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Modeling with Deterministic Decisions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5496" y="2826961"/>
            <a:ext cx="16857007" cy="532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575" indent="-395788" lvl="1">
              <a:lnSpc>
                <a:spcPts val="5132"/>
              </a:lnSpc>
              <a:buFont typeface="Arial"/>
              <a:buChar char="•"/>
            </a:pPr>
            <a:r>
              <a:rPr lang="en-US" b="true" sz="366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Mathematical Assumptions</a:t>
            </a:r>
            <a:r>
              <a:rPr lang="en-US" sz="366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Minimum 2D spatial guardrail (0.02) to prevent</a:t>
            </a:r>
            <a:r>
              <a:rPr lang="en-US" sz="366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infinite signal scaling.</a:t>
            </a:r>
          </a:p>
          <a:p>
            <a:pPr algn="l">
              <a:lnSpc>
                <a:spcPts val="5132"/>
              </a:lnSpc>
            </a:pPr>
          </a:p>
          <a:p>
            <a:pPr algn="l" marL="791575" indent="-395788" lvl="1">
              <a:lnSpc>
                <a:spcPts val="5132"/>
              </a:lnSpc>
              <a:buFont typeface="Arial"/>
              <a:buChar char="•"/>
            </a:pPr>
            <a:r>
              <a:rPr lang="en-US" b="true" sz="366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Interaction</a:t>
            </a:r>
            <a:r>
              <a:rPr lang="en-US" sz="366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Unpredictable fading determines if the fixed decision</a:t>
            </a:r>
            <a:r>
              <a:rPr lang="en-US" sz="366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rule passes or fails.</a:t>
            </a:r>
          </a:p>
          <a:p>
            <a:pPr algn="l">
              <a:lnSpc>
                <a:spcPts val="5132"/>
              </a:lnSpc>
            </a:pPr>
          </a:p>
          <a:p>
            <a:pPr algn="l" marL="791575" indent="-395788" lvl="1">
              <a:lnSpc>
                <a:spcPts val="5132"/>
              </a:lnSpc>
              <a:buFont typeface="Arial"/>
              <a:buChar char="•"/>
            </a:pPr>
            <a:r>
              <a:rPr lang="en-US" b="true" sz="366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  <a:r>
              <a:rPr lang="en-US" b="true" sz="366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elevant Equation</a:t>
            </a:r>
            <a:r>
              <a:rPr lang="en-US" sz="366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SINR = Signal / (Interference + Noise).</a:t>
            </a:r>
          </a:p>
          <a:p>
            <a:pPr algn="l">
              <a:lnSpc>
                <a:spcPts val="5132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-237460"/>
            <a:ext cx="16186723" cy="2103905"/>
            <a:chOff x="0" y="0"/>
            <a:chExt cx="21582297" cy="28052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82298" cy="2805202"/>
            </a:xfrm>
            <a:custGeom>
              <a:avLst/>
              <a:gdLst/>
              <a:ahLst/>
              <a:cxnLst/>
              <a:rect r="r" b="b" t="t" l="l"/>
              <a:pathLst>
                <a:path h="2805202" w="21582298">
                  <a:moveTo>
                    <a:pt x="0" y="0"/>
                  </a:moveTo>
                  <a:lnTo>
                    <a:pt x="21582298" y="0"/>
                  </a:lnTo>
                  <a:lnTo>
                    <a:pt x="21582298" y="2805202"/>
                  </a:lnTo>
                  <a:lnTo>
                    <a:pt x="0" y="2805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824" r="2553" b="-933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582297" cy="27290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Deterministic Baseline Logic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8220" y="2342695"/>
            <a:ext cx="16147584" cy="525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321" indent="-386160" lvl="1">
              <a:lnSpc>
                <a:spcPts val="3090"/>
              </a:lnSpc>
              <a:buFont typeface="Arial"/>
              <a:buChar char="•"/>
            </a:pPr>
            <a:r>
              <a:rPr lang="en-US" b="true" sz="357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Fixed Strategy: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400 static receiver points testing a rigid grid of towers.</a:t>
            </a: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 marL="772321" indent="-386160" lvl="1">
              <a:lnSpc>
                <a:spcPts val="3090"/>
              </a:lnSpc>
              <a:buFont typeface="Arial"/>
              <a:buChar char="•"/>
            </a:pPr>
            <a:r>
              <a:rPr lang="en-US" b="true" sz="357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Step-by-Step: 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culate distances ---&gt; Apply fixed threshold ---&gt; Average the successes.</a:t>
            </a: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>
              <a:lnSpc>
                <a:spcPts val="3090"/>
              </a:lnSpc>
            </a:pPr>
          </a:p>
          <a:p>
            <a:pPr algn="l" marL="772321" indent="-386160" lvl="1">
              <a:lnSpc>
                <a:spcPts val="3090"/>
              </a:lnSpc>
              <a:buFont typeface="Arial"/>
              <a:buChar char="•"/>
            </a:pPr>
            <a:r>
              <a:rPr lang="en-US" b="true" sz="357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</a:t>
            </a:r>
            <a:r>
              <a:rPr lang="en-US" b="true" sz="357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rict Rule: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 rand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omized s</a:t>
            </a:r>
            <a:r>
              <a:rPr lang="en-US" sz="357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cheduling algorithms (No Aloha, No DPP).</a:t>
            </a:r>
          </a:p>
          <a:p>
            <a:pPr algn="l">
              <a:lnSpc>
                <a:spcPts val="309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51683"/>
            <a:ext cx="8552816" cy="5858679"/>
          </a:xfrm>
          <a:custGeom>
            <a:avLst/>
            <a:gdLst/>
            <a:ahLst/>
            <a:cxnLst/>
            <a:rect r="r" b="b" t="t" l="l"/>
            <a:pathLst>
              <a:path h="5858679" w="8552816">
                <a:moveTo>
                  <a:pt x="0" y="0"/>
                </a:moveTo>
                <a:lnTo>
                  <a:pt x="8552816" y="0"/>
                </a:lnTo>
                <a:lnTo>
                  <a:pt x="8552816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214160"/>
            <a:ext cx="7381234" cy="5796202"/>
          </a:xfrm>
          <a:custGeom>
            <a:avLst/>
            <a:gdLst/>
            <a:ahLst/>
            <a:cxnLst/>
            <a:rect r="r" b="b" t="t" l="l"/>
            <a:pathLst>
              <a:path h="5796202" w="7381234">
                <a:moveTo>
                  <a:pt x="0" y="0"/>
                </a:moveTo>
                <a:lnTo>
                  <a:pt x="7381234" y="0"/>
                </a:lnTo>
                <a:lnTo>
                  <a:pt x="7381234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09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7018" y="595312"/>
            <a:ext cx="1721396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Visual Representation of Tower and Receiver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349946"/>
            <a:ext cx="17444061" cy="1391631"/>
            <a:chOff x="0" y="0"/>
            <a:chExt cx="23258748" cy="18555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58748" cy="1855506"/>
            </a:xfrm>
            <a:custGeom>
              <a:avLst/>
              <a:gdLst/>
              <a:ahLst/>
              <a:cxnLst/>
              <a:rect r="r" b="b" t="t" l="l"/>
              <a:pathLst>
                <a:path h="1855506" w="23258748">
                  <a:moveTo>
                    <a:pt x="0" y="0"/>
                  </a:moveTo>
                  <a:lnTo>
                    <a:pt x="23258748" y="0"/>
                  </a:lnTo>
                  <a:lnTo>
                    <a:pt x="23258748" y="1855506"/>
                  </a:lnTo>
                  <a:lnTo>
                    <a:pt x="0" y="18555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405" r="9577" b="-1922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3258748" cy="179835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508"/>
                </a:lnSpc>
              </a:pPr>
              <a:r>
                <a:rPr lang="en-US" b="true" sz="51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Simulation Implementation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43939" y="2502929"/>
            <a:ext cx="15401650" cy="558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167" indent="-444584" lvl="1">
              <a:lnSpc>
                <a:spcPts val="3558"/>
              </a:lnSpc>
              <a:buFont typeface="Arial"/>
              <a:buChar char="•"/>
            </a:pPr>
            <a:r>
              <a:rPr lang="en-US" b="true" sz="411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Algorithms </a:t>
            </a:r>
            <a:r>
              <a:rPr lang="en-US" b="true" sz="411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Used</a:t>
            </a:r>
            <a:r>
              <a:rPr lang="en-US" sz="41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Deterministic mesh grids (numpy.meshgrid) for both towers and receivers.</a:t>
            </a: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</a:p>
          <a:p>
            <a:pPr algn="l" marL="889167" indent="-444584" lvl="1">
              <a:lnSpc>
                <a:spcPts val="3558"/>
              </a:lnSpc>
              <a:buFont typeface="Arial"/>
              <a:buChar char="•"/>
            </a:pPr>
            <a:r>
              <a:rPr lang="en-US" b="true" sz="411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Code Structure: </a:t>
            </a:r>
            <a:r>
              <a:rPr lang="en-US" sz="41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Nes</a:t>
            </a:r>
            <a:r>
              <a:rPr lang="en-US" sz="41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ted Monte Carlo loops sweeping through increasing densities.</a:t>
            </a: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</a:p>
          <a:p>
            <a:pPr algn="l" marL="889167" indent="-444584" lvl="1">
              <a:lnSpc>
                <a:spcPts val="3558"/>
              </a:lnSpc>
              <a:buFont typeface="Arial"/>
              <a:buChar char="•"/>
            </a:pPr>
            <a:r>
              <a:rPr lang="en-US" b="true" sz="411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Execut</a:t>
            </a:r>
            <a:r>
              <a:rPr lang="en-US" b="true" sz="411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ion:</a:t>
            </a:r>
            <a:r>
              <a:rPr lang="en-US" sz="41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50 fading snapshots executed at every single test point to find the true spatial average.</a:t>
            </a:r>
          </a:p>
          <a:p>
            <a:pPr algn="l">
              <a:lnSpc>
                <a:spcPts val="3558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-260236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1200" cy="2575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Results and Performance Analysis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7679" y="2213046"/>
            <a:ext cx="16672983" cy="534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7992" indent="-423996" lvl="1">
              <a:lnSpc>
                <a:spcPts val="3393"/>
              </a:lnSpc>
              <a:buFont typeface="Arial"/>
              <a:buChar char="•"/>
            </a:pPr>
            <a:r>
              <a:rPr lang="en-US" b="true" sz="392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Metrics:</a:t>
            </a:r>
            <a:r>
              <a:rPr lang="en-US" sz="3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Spatial Throughput (T) vs. Network Density (lambda).</a:t>
            </a: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  <a:p>
            <a:pPr algn="l" marL="847992" indent="-423996" lvl="1">
              <a:lnSpc>
                <a:spcPts val="3393"/>
              </a:lnSpc>
              <a:buFont typeface="Arial"/>
              <a:buChar char="•"/>
            </a:pPr>
            <a:r>
              <a:rPr lang="en-US" b="true" sz="392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Plots: </a:t>
            </a:r>
            <a:r>
              <a:rPr lang="en-US" sz="3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Baseline Throughput "Bell Curve".</a:t>
            </a: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  <a:p>
            <a:pPr algn="l" marL="847992" indent="-423996" lvl="1">
              <a:lnSpc>
                <a:spcPts val="3393"/>
              </a:lnSpc>
              <a:buFont typeface="Arial"/>
              <a:buChar char="•"/>
            </a:pPr>
            <a:r>
              <a:rPr lang="en-US" b="true" sz="392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Observed Behavior:</a:t>
            </a:r>
            <a:r>
              <a:rPr lang="en-US" sz="392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Throughput scales linearly, hits an optimal peak (lambda^*), and crashes under interference.</a:t>
            </a:r>
          </a:p>
          <a:p>
            <a:pPr algn="l">
              <a:lnSpc>
                <a:spcPts val="3393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95939" y="-548236"/>
            <a:ext cx="15773400" cy="1988550"/>
            <a:chOff x="0" y="0"/>
            <a:chExt cx="21031200" cy="265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651396"/>
            </a:xfrm>
            <a:custGeom>
              <a:avLst/>
              <a:gdLst/>
              <a:ahLst/>
              <a:cxnLst/>
              <a:rect r="r" b="b" t="t" l="l"/>
              <a:pathLst>
                <a:path h="2651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396"/>
                  </a:lnTo>
                  <a:lnTo>
                    <a:pt x="0" y="26513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57" r="0" b="-1045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1200" cy="2575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Square Vs Hexagonal Bell Curve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352000" y="2921387"/>
            <a:ext cx="9320552" cy="5732139"/>
          </a:xfrm>
          <a:custGeom>
            <a:avLst/>
            <a:gdLst/>
            <a:ahLst/>
            <a:cxnLst/>
            <a:rect r="r" b="b" t="t" l="l"/>
            <a:pathLst>
              <a:path h="5732139" w="9320552">
                <a:moveTo>
                  <a:pt x="0" y="0"/>
                </a:moveTo>
                <a:lnTo>
                  <a:pt x="9320552" y="0"/>
                </a:lnTo>
                <a:lnTo>
                  <a:pt x="9320552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49039" y="2277430"/>
            <a:ext cx="5128835" cy="1765822"/>
          </a:xfrm>
          <a:custGeom>
            <a:avLst/>
            <a:gdLst/>
            <a:ahLst/>
            <a:cxnLst/>
            <a:rect r="r" b="b" t="t" l="l"/>
            <a:pathLst>
              <a:path h="1765822" w="5128835">
                <a:moveTo>
                  <a:pt x="0" y="0"/>
                </a:moveTo>
                <a:lnTo>
                  <a:pt x="5128835" y="0"/>
                </a:lnTo>
                <a:lnTo>
                  <a:pt x="5128835" y="1765822"/>
                </a:lnTo>
                <a:lnTo>
                  <a:pt x="0" y="1765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20347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1277" y="4224227"/>
            <a:ext cx="7044358" cy="4834191"/>
          </a:xfrm>
          <a:custGeom>
            <a:avLst/>
            <a:gdLst/>
            <a:ahLst/>
            <a:cxnLst/>
            <a:rect r="r" b="b" t="t" l="l"/>
            <a:pathLst>
              <a:path h="4834191" w="7044358">
                <a:moveTo>
                  <a:pt x="0" y="0"/>
                </a:moveTo>
                <a:lnTo>
                  <a:pt x="7044359" y="0"/>
                </a:lnTo>
                <a:lnTo>
                  <a:pt x="7044359" y="4834191"/>
                </a:lnTo>
                <a:lnTo>
                  <a:pt x="0" y="4834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0"/>
            <a:ext cx="15773400" cy="1788460"/>
            <a:chOff x="0" y="0"/>
            <a:chExt cx="21031200" cy="23846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384609"/>
            </a:xfrm>
            <a:custGeom>
              <a:avLst/>
              <a:gdLst/>
              <a:ahLst/>
              <a:cxnLst/>
              <a:rect r="r" b="b" t="t" l="l"/>
              <a:pathLst>
                <a:path h="238460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84609"/>
                  </a:lnTo>
                  <a:lnTo>
                    <a:pt x="0" y="23846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255" r="0" b="-1274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21031200" cy="231793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264"/>
                </a:lnSpc>
              </a:pPr>
              <a:r>
                <a:rPr lang="en-US" b="true" sz="58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Limitations of Deterministic Strategy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8220" y="2487106"/>
            <a:ext cx="15177408" cy="522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422" indent="-416211" lvl="1">
              <a:lnSpc>
                <a:spcPts val="3331"/>
              </a:lnSpc>
              <a:buFont typeface="Arial"/>
              <a:buChar char="•"/>
            </a:pPr>
            <a:r>
              <a:rPr lang="en-US" b="true" sz="385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Weaknesses: </a:t>
            </a:r>
            <a:r>
              <a:rPr lang="en-US" sz="3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Cannot </a:t>
            </a:r>
            <a:r>
              <a:rPr lang="en-US" sz="3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unpredictable human clustering or movement.</a:t>
            </a:r>
          </a:p>
          <a:p>
            <a:pPr algn="l">
              <a:lnSpc>
                <a:spcPts val="3331"/>
              </a:lnSpc>
            </a:pPr>
          </a:p>
          <a:p>
            <a:pPr algn="l">
              <a:lnSpc>
                <a:spcPts val="3331"/>
              </a:lnSpc>
            </a:pPr>
          </a:p>
          <a:p>
            <a:pPr algn="l" marL="832422" indent="-416211" lvl="1">
              <a:lnSpc>
                <a:spcPts val="3331"/>
              </a:lnSpc>
              <a:buFont typeface="Arial"/>
              <a:buChar char="•"/>
            </a:pPr>
            <a:r>
              <a:rPr lang="en-US" b="true" sz="385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</a:t>
            </a:r>
            <a:r>
              <a:rPr lang="en-US" b="true" sz="385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oundary Anomaly: </a:t>
            </a:r>
            <a:r>
              <a:rPr lang="en-US" sz="3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Square grids artificially beat Hexagonal grids due to edge-effects in our bounded $1 \times 1$ simulati</a:t>
            </a:r>
            <a:r>
              <a:rPr lang="en-US" sz="3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window.</a:t>
            </a:r>
          </a:p>
          <a:p>
            <a:pPr algn="l">
              <a:lnSpc>
                <a:spcPts val="3331"/>
              </a:lnSpc>
            </a:pPr>
          </a:p>
          <a:p>
            <a:pPr algn="l">
              <a:lnSpc>
                <a:spcPts val="3331"/>
              </a:lnSpc>
            </a:pPr>
          </a:p>
          <a:p>
            <a:pPr algn="l" marL="832422" indent="-416211" lvl="1">
              <a:lnSpc>
                <a:spcPts val="3331"/>
              </a:lnSpc>
              <a:buFont typeface="Arial"/>
              <a:buChar char="•"/>
            </a:pPr>
            <a:r>
              <a:rPr lang="en-US" b="true" sz="385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Poor Performance: </a:t>
            </a:r>
            <a:r>
              <a:rPr lang="en-US" sz="3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Fails to represent highly dynamic, real-world urban environments.</a:t>
            </a:r>
          </a:p>
          <a:p>
            <a:pPr algn="l">
              <a:lnSpc>
                <a:spcPts val="333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39" y="-711453"/>
            <a:ext cx="18072730" cy="2168630"/>
            <a:chOff x="0" y="0"/>
            <a:chExt cx="24096974" cy="28915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6974" cy="2891502"/>
            </a:xfrm>
            <a:custGeom>
              <a:avLst/>
              <a:gdLst/>
              <a:ahLst/>
              <a:cxnLst/>
              <a:rect r="r" b="b" t="t" l="l"/>
              <a:pathLst>
                <a:path h="2891502" w="24096974">
                  <a:moveTo>
                    <a:pt x="0" y="0"/>
                  </a:moveTo>
                  <a:lnTo>
                    <a:pt x="24096974" y="0"/>
                  </a:lnTo>
                  <a:lnTo>
                    <a:pt x="24096974" y="2891502"/>
                  </a:lnTo>
                  <a:lnTo>
                    <a:pt x="0" y="28915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5875" r="12722" b="-875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24096974" cy="28438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5000" u="sng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Summary and Transition to Randomized Strategies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30616" y="1927933"/>
            <a:ext cx="16186723" cy="603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780" indent="-443890" lvl="1">
              <a:lnSpc>
                <a:spcPts val="3552"/>
              </a:lnSpc>
              <a:buFont typeface="Arial"/>
              <a:buChar char="•"/>
            </a:pPr>
            <a:r>
              <a:rPr lang="en-US" b="true" sz="4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Insights: </a:t>
            </a:r>
            <a:r>
              <a:rPr lang="en-US" sz="411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 perfectly spaced networks have a mathematical breaking p</a:t>
            </a:r>
            <a:r>
              <a:rPr lang="en-US" sz="411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oint due to interference.</a:t>
            </a:r>
          </a:p>
          <a:p>
            <a:pPr algn="l">
              <a:lnSpc>
                <a:spcPts val="3552"/>
              </a:lnSpc>
            </a:pPr>
          </a:p>
          <a:p>
            <a:pPr algn="l">
              <a:lnSpc>
                <a:spcPts val="3552"/>
              </a:lnSpc>
            </a:pPr>
          </a:p>
          <a:p>
            <a:pPr algn="l" marL="887780" indent="-443890" lvl="1">
              <a:lnSpc>
                <a:spcPts val="3552"/>
              </a:lnSpc>
              <a:buFont typeface="Arial"/>
              <a:buChar char="•"/>
            </a:pPr>
            <a:r>
              <a:rPr lang="en-US" b="true" sz="4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Randomization is Next:</a:t>
            </a:r>
            <a:r>
              <a:rPr lang="en-US" sz="411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We must model the true chaos of real users (Aloha) and apply smart, repulsive scheduling algorithms (DPP).</a:t>
            </a:r>
          </a:p>
          <a:p>
            <a:pPr algn="l">
              <a:lnSpc>
                <a:spcPts val="3552"/>
              </a:lnSpc>
            </a:pPr>
          </a:p>
          <a:p>
            <a:pPr algn="l">
              <a:lnSpc>
                <a:spcPts val="3552"/>
              </a:lnSpc>
            </a:pPr>
          </a:p>
          <a:p>
            <a:pPr algn="l">
              <a:lnSpc>
                <a:spcPts val="3552"/>
              </a:lnSpc>
            </a:pPr>
          </a:p>
          <a:p>
            <a:pPr algn="l" marL="887780" indent="-443890" lvl="1">
              <a:lnSpc>
                <a:spcPts val="3552"/>
              </a:lnSpc>
              <a:buFont typeface="Arial"/>
              <a:buChar char="•"/>
            </a:pPr>
            <a:r>
              <a:rPr lang="en-US" b="true" sz="4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Goal: </a:t>
            </a:r>
            <a:r>
              <a:rPr lang="en-US" sz="411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Beat this deterministic baseline's peak throughput in Milestone 4 and 5.</a:t>
            </a:r>
          </a:p>
          <a:p>
            <a:pPr algn="l">
              <a:lnSpc>
                <a:spcPts val="3552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195" cy="754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DAHAQ4FIo3o</dc:identifier>
  <dcterms:modified xsi:type="dcterms:W3CDTF">2011-08-01T06:04:30Z</dcterms:modified>
  <cp:revision>1</cp:revision>
  <dc:title>AU Official Presentation Template 1.pptx</dc:title>
</cp:coreProperties>
</file>